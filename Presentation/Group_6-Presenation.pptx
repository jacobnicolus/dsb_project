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76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918737-F7BA-4A92-99FA-D2E6B1C90057}" v="12" dt="2026-07-14T12:44:55.4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ha Soni" userId="714d01c5a0940c0f" providerId="LiveId" clId="{E860F5A4-A058-44C2-BF70-FAAE3268D93C}"/>
    <pc:docChg chg="undo custSel modSld">
      <pc:chgData name="Isha Soni" userId="714d01c5a0940c0f" providerId="LiveId" clId="{E860F5A4-A058-44C2-BF70-FAAE3268D93C}" dt="2026-07-14T12:52:17.718" v="360" actId="114"/>
      <pc:docMkLst>
        <pc:docMk/>
      </pc:docMkLst>
      <pc:sldChg chg="addSp delSp modSp mod">
        <pc:chgData name="Isha Soni" userId="714d01c5a0940c0f" providerId="LiveId" clId="{E860F5A4-A058-44C2-BF70-FAAE3268D93C}" dt="2026-07-14T12:52:17.718" v="360" actId="114"/>
        <pc:sldMkLst>
          <pc:docMk/>
          <pc:sldMk cId="0" sldId="256"/>
        </pc:sldMkLst>
        <pc:spChg chg="mod">
          <ac:chgData name="Isha Soni" userId="714d01c5a0940c0f" providerId="LiveId" clId="{E860F5A4-A058-44C2-BF70-FAAE3268D93C}" dt="2026-07-14T12:51:20.570" v="346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Isha Soni" userId="714d01c5a0940c0f" providerId="LiveId" clId="{E860F5A4-A058-44C2-BF70-FAAE3268D93C}" dt="2026-07-14T12:49:30.081" v="342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Isha Soni" userId="714d01c5a0940c0f" providerId="LiveId" clId="{E860F5A4-A058-44C2-BF70-FAAE3268D93C}" dt="2026-07-14T12:51:59.753" v="356" actId="113"/>
          <ac:spMkLst>
            <pc:docMk/>
            <pc:sldMk cId="0" sldId="256"/>
            <ac:spMk id="4" creationId="{00000000-0000-0000-0000-000000000000}"/>
          </ac:spMkLst>
        </pc:spChg>
        <pc:spChg chg="mod">
          <ac:chgData name="Isha Soni" userId="714d01c5a0940c0f" providerId="LiveId" clId="{E860F5A4-A058-44C2-BF70-FAAE3268D93C}" dt="2026-07-14T12:52:17.718" v="360" actId="114"/>
          <ac:spMkLst>
            <pc:docMk/>
            <pc:sldMk cId="0" sldId="256"/>
            <ac:spMk id="5" creationId="{00000000-0000-0000-0000-000000000000}"/>
          </ac:spMkLst>
        </pc:spChg>
        <pc:spChg chg="mod">
          <ac:chgData name="Isha Soni" userId="714d01c5a0940c0f" providerId="LiveId" clId="{E860F5A4-A058-44C2-BF70-FAAE3268D93C}" dt="2026-07-14T12:47:34.551" v="311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Isha Soni" userId="714d01c5a0940c0f" providerId="LiveId" clId="{E860F5A4-A058-44C2-BF70-FAAE3268D93C}" dt="2026-07-14T12:45:12.288" v="248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Isha Soni" userId="714d01c5a0940c0f" providerId="LiveId" clId="{E860F5A4-A058-44C2-BF70-FAAE3268D93C}" dt="2026-07-14T12:40:23.410" v="131" actId="20577"/>
          <ac:spMkLst>
            <pc:docMk/>
            <pc:sldMk cId="0" sldId="256"/>
            <ac:spMk id="9" creationId="{00000000-0000-0000-0000-000000000000}"/>
          </ac:spMkLst>
        </pc:spChg>
        <pc:spChg chg="add del mod">
          <ac:chgData name="Isha Soni" userId="714d01c5a0940c0f" providerId="LiveId" clId="{E860F5A4-A058-44C2-BF70-FAAE3268D93C}" dt="2026-07-14T12:38:45.082" v="42"/>
          <ac:spMkLst>
            <pc:docMk/>
            <pc:sldMk cId="0" sldId="256"/>
            <ac:spMk id="10" creationId="{9B3C786E-5D8D-BCB9-4653-A8E7944468BE}"/>
          </ac:spMkLst>
        </pc:spChg>
        <pc:spChg chg="add mod">
          <ac:chgData name="Isha Soni" userId="714d01c5a0940c0f" providerId="LiveId" clId="{E860F5A4-A058-44C2-BF70-FAAE3268D93C}" dt="2026-07-14T12:51:52.562" v="355" actId="113"/>
          <ac:spMkLst>
            <pc:docMk/>
            <pc:sldMk cId="0" sldId="256"/>
            <ac:spMk id="11" creationId="{E7AE853D-D45E-0671-F3C3-D8B5332DEF3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5373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r>
              <a:rPr lang="en-US" dirty="0"/>
              <a:t>l</a:t>
            </a:r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4434840"/>
            <a:ext cx="12188952" cy="2423160"/>
          </a:xfrm>
          <a:prstGeom prst="rect">
            <a:avLst/>
          </a:prstGeom>
          <a:solidFill>
            <a:srgbClr val="142B4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731520" y="820115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3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RESEARCH &amp; BUSINESS ANALYTICS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9142" y="1527501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Events, Commodities</a:t>
            </a:r>
            <a:endParaRPr lang="en-US" sz="4400" b="1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Currency Markets</a:t>
            </a:r>
            <a:endParaRPr lang="en-US" sz="4400" b="1" dirty="0"/>
          </a:p>
        </p:txBody>
      </p:sp>
      <p:sp>
        <p:nvSpPr>
          <p:cNvPr id="6" name="Text 4"/>
          <p:cNvSpPr/>
          <p:nvPr/>
        </p:nvSpPr>
        <p:spPr>
          <a:xfrm>
            <a:off x="731520" y="3703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Trends, Investment Risk &amp; Global Economic Insights 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4892040"/>
            <a:ext cx="2926080" cy="0"/>
          </a:xfrm>
          <a:prstGeom prst="line">
            <a:avLst/>
          </a:prstGeom>
          <a:noFill/>
          <a:ln w="25400">
            <a:solidFill>
              <a:srgbClr val="C9A2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074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Group 6 | MSc Data Science | University of Europe for Applied Sciences | July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5486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AE853D-D45E-0671-F3C3-D8B5332DEF37}"/>
              </a:ext>
            </a:extLst>
          </p:cNvPr>
          <p:cNvSpPr txBox="1"/>
          <p:nvPr/>
        </p:nvSpPr>
        <p:spPr>
          <a:xfrm>
            <a:off x="10722703" y="39303"/>
            <a:ext cx="2414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kern="0" spc="3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6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Themes, Twenty Minutes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40233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03120"/>
            <a:ext cx="548640" cy="548640"/>
          </a:xfrm>
          <a:prstGeom prst="ellipse">
            <a:avLst/>
          </a:prstGeom>
          <a:solidFill>
            <a:srgbClr val="B23A3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Events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56616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of shocks (1960–2026) and which markets they moved most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37560" y="1828800"/>
            <a:ext cx="2606040" cy="40233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2103120"/>
            <a:ext cx="548640" cy="54864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66160" y="288036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Commodity Deep-Dive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66160" y="356616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Oil, gold &amp; silver mechanics, correlations, crisis behaviour, forecasts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1828800"/>
            <a:ext cx="2606040" cy="40233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5080" y="2103120"/>
            <a:ext cx="548640" cy="548640"/>
          </a:xfrm>
          <a:prstGeom prst="ellipse">
            <a:avLst/>
          </a:prstGeom>
          <a:solidFill>
            <a:srgbClr val="5B7A9D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55080" y="288036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Currency Markets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55080" y="356616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dominance, CNY/RMB's rise, sanctions &amp; alternative settlement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15400" y="1828800"/>
            <a:ext cx="2606040" cy="40233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0" y="2103120"/>
            <a:ext cx="548640" cy="548640"/>
          </a:xfrm>
          <a:prstGeom prst="ellipse">
            <a:avLst/>
          </a:prstGeom>
          <a:solidFill>
            <a:srgbClr val="142B4F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144000" y="288036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&amp; Recommendations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0" y="356616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ranking, exposure notes, and three practical actions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Events, Commodities &amp; Currency Markets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2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· MAJOR GLOBAL EVENTS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Events That Redefined the Markets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74520"/>
            <a:ext cx="3520440" cy="8229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7452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1973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OPEC Oil Embargo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566160"/>
            <a:ext cx="30632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 oil producers cut exports to the US and allies; Brent-equivalent crude roughly quadrupled, ending the era of cheap post-war oil.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79392" y="187452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79392" y="1874520"/>
            <a:ext cx="3520440" cy="8229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1" name="Text 9"/>
          <p:cNvSpPr/>
          <p:nvPr/>
        </p:nvSpPr>
        <p:spPr>
          <a:xfrm>
            <a:off x="4279392" y="187452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2008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07992" y="28803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Financial Crisis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07992" y="3566160"/>
            <a:ext cx="30632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Lehman Brothers' collapse triggered a synchronized crash across oil, equities and credit, followed by a gold- and silver-led safe-haven rally.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10144" y="187452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10144" y="1874520"/>
            <a:ext cx="3520440" cy="8229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6" name="Text 14"/>
          <p:cNvSpPr/>
          <p:nvPr/>
        </p:nvSpPr>
        <p:spPr>
          <a:xfrm>
            <a:off x="8010144" y="187452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2022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238744" y="28803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Russia–Ukraine War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38744" y="3566160"/>
            <a:ext cx="30632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Invasion and sanctions disrupted energy supply chains, pushing Brent toward $120+ and accelerating a shift toward alternative payment settlement.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Events, Commodities &amp; Currency Markets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2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EVENT TIMELINE 1960–2026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Events Across Six Decades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755648"/>
            <a:ext cx="6821424" cy="4306824"/>
          </a:xfrm>
          <a:prstGeom prst="roundRect">
            <a:avLst>
              <a:gd name="adj" fmla="val 1274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5" name="Image 0" descr="/home/claude/proj/images/chart1_brent_oil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0"/>
            <a:ext cx="6675120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06247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Brent Crude with major event markers, 1960–2026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452360" y="1828800"/>
            <a:ext cx="42062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Oil-driven shocks: 1973 OPEC Embargo, 1980 Iran–Iraq War, 1990 Gulf War, 2014 Shale Glut, 2022 Ukraine War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 shocks: 1971 Nixon Shock (end of gold convertibility), 1980 Hunt Brothers silver squeeze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crises: 2008 GFC, 2020 COVID-19 demand collapse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Recent: 2021 silver "meme squeeze", 2024 gold all-time high, 2026 renewed volatility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Events, Commodities &amp; Currency Markets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2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· MOST OIL-CONNECTED EVENT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OPEC 1973 vs. Ukraine 2022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755648"/>
            <a:ext cx="7004304" cy="4306824"/>
          </a:xfrm>
          <a:prstGeom prst="roundRect">
            <a:avLst>
              <a:gd name="adj" fmla="val 1274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5" name="Image 0" descr="/home/claude/proj/images/chart5_brent_annual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0"/>
            <a:ext cx="6858000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06247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annual Brent price, 2015–2026 (long-term avg $35.6/bbl)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589520" y="1828800"/>
            <a:ext cx="40690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B2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1973 OPEC Embargo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break: price roughly quadrupled and never returned to pre-1973 levels — a permanent regime shift.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B2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Ukraine War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Sharpest recent supply-side shock: Brent jumped toward $120+/bbl as sanctions rerouted global energy flows.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1973 wins on structural, permanent impact; 2022 wins on speed and magnitude of the price spike.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Events, Commodities &amp; Currency Markets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· MOST GOLD/SILVER-CONNECTED EVENT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Nixon Shock 1971 vs. Hunt Brothers 1980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755648"/>
            <a:ext cx="7004304" cy="4306824"/>
          </a:xfrm>
          <a:prstGeom prst="roundRect">
            <a:avLst>
              <a:gd name="adj" fmla="val 1274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5" name="Image 0" descr="/home/claude/proj/images/chart4_gold_silver_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0"/>
            <a:ext cx="6858000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06247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(left axis) vs Silver (right axis), 1960–2026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589520" y="1828800"/>
            <a:ext cx="40690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1971 Nixon Shock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Ended dollar-gold convertibility, freeing gold to trade as a market-priced asset — the foundational event for every gold rally since.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 Hunt Brothers Squeeze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Attempted cornering of the silver market drove prices near $40/oz before a dramatic collapse — silver's most extreme volatility event.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Nixon Shock is the deeper structural driver for gold; Hunt Brothers is the sharpest silver-specific shock.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Events, Commodities &amp; Currency Markets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2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 · OIL SUPPLY SHOCKS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Supply Shocks Move Brent Crude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B2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Direct supply withdrawal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Embargoes, war damage, or OPEC quota cuts physically remove barrels from the market, tightening balances immediately.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B2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Risk premium / fear pricing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Traders price in the probability of further disruption, pushing prices above what current flows alone justify.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B2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Spare-capacity constraints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OPEC+ spare capacity is thin, even small outages cause outsized price moves.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B2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Demand-side offsets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prices eventually destroy demand and pull in substitutes (shale, renewables), which is why spikes historically mean-revert.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327648" y="1801368"/>
            <a:ext cx="5404104" cy="4169664"/>
          </a:xfrm>
          <a:prstGeom prst="roundRect">
            <a:avLst>
              <a:gd name="adj" fmla="val 1316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6" name="Image 0" descr="/home/claude/proj/images/chart5_brent_annual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74520"/>
            <a:ext cx="5257800" cy="4023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0" y="5971032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(Ukraine) and 2008 (pre-GFC) both cleared $95–100/bbl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Events, Commodities &amp; Currency Markets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B6 · GOLD IN GEOPOLITICAL UNCERTAINTY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Gold Is the Default Safe Haven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755648"/>
            <a:ext cx="7004304" cy="4306824"/>
          </a:xfrm>
          <a:prstGeom prst="roundRect">
            <a:avLst>
              <a:gd name="adj" fmla="val 1274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5" name="Image 0" descr="/home/claude/proj/images/chart2_gold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0"/>
            <a:ext cx="6858000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06247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price with event markers, 1960–2026 — new all-time high in 2024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589520" y="1828800"/>
            <a:ext cx="40690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counterparty risk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is nobody's liability, so it can't default when banks, governments or currencies are under stress.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hedge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physical supply preserves purchasing power as fiat currencies are debased.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Central-bank demand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diversification away from single-currency exposure has been a persistent buyer of last resort.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Flight-to-quality flows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capital rotates into gold during equity/credit stress, visible at every 2008, 2020 and 2022 marker.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Events, Commodities &amp; Currency Markets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B7 · SILVER'S SPLIT PERSONALITY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Precious Metal Meets Industrial Commodity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755648"/>
            <a:ext cx="7004304" cy="4306824"/>
          </a:xfrm>
          <a:prstGeom prst="roundRect">
            <a:avLst>
              <a:gd name="adj" fmla="val 1274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5" name="Image 0" descr="/home/claude/proj/images/chart3_silver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0"/>
            <a:ext cx="6858000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06247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price with event markers — note the sharper spikes and drawdowns vs. gold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589520" y="1828800"/>
            <a:ext cx="40690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Precious-metal side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gold closely (correlation 0.958) as investors treat it as a cheaper store-of-value proxy.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side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~half of demand comes from electronics, solar panels and industrial uses, tying silver to global growth cycles.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amplified volatility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Smaller, thinner market plus dual demand drivers means silver overshoots gold in both directions — 1980 and 2011 peaks, sharper 2008 and 2020 crashes.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Events, Commodities &amp; Currency Markets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4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B8 · CRISIS COMPARISON — 2008 GFC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Crisis, Three Different Paths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755648"/>
            <a:ext cx="8010144" cy="4352544"/>
          </a:xfrm>
          <a:prstGeom prst="roundRect">
            <a:avLst>
              <a:gd name="adj" fmla="val 1261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5" name="Image 0" descr="/home/claude/proj/images/chart8_crisis_comparison_2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0"/>
            <a:ext cx="7863840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1081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Brent, Gold &amp; Silver indexed to Jan 2007 = 100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595360" y="1828800"/>
            <a:ext cx="30632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50" b="1" dirty="0">
                <a:solidFill>
                  <a:srgbClr val="B2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Brent Oil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hardest into the peak (~247) then collapsed fastest, bottoming near 76 during the Lehman window — a pure demand-shock reaction.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5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Dipped only briefly, then climbed almost without interruption to ~220 by 2010 — the clearest safe-haven signature.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50" b="1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Fell hardest of the three in the crisis window, then rebounded most explosively, ending highest at ~230 — its dual identity in one chart.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Events, Commodities &amp; Currency Markets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4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/ B3 · CORRELATION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Tightly Do These Markets Move Together?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755648"/>
            <a:ext cx="5998464" cy="4718304"/>
          </a:xfrm>
          <a:prstGeom prst="roundRect">
            <a:avLst>
              <a:gd name="adj" fmla="val 1163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5" name="Image 0" descr="/home/claude/proj/images/chart_B3_correl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0"/>
            <a:ext cx="585216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73952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correlation, annual average prices, 1960–2026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766560" y="1965960"/>
            <a:ext cx="4846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903720" y="2075688"/>
            <a:ext cx="4572000" cy="6789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0.958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903720" y="2706624"/>
            <a:ext cx="4572000" cy="4320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– Silver correlation (near-perfect)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766560" y="3337560"/>
            <a:ext cx="4846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903720" y="3447288"/>
            <a:ext cx="4572000" cy="6789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B7A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0.758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6903720" y="4078224"/>
            <a:ext cx="4572000" cy="4320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Brent Oil – Silver correlation (moderate-strong)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766560" y="4709160"/>
            <a:ext cx="4846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903720" y="4818888"/>
            <a:ext cx="4572000" cy="6789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23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0.750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903720" y="5449824"/>
            <a:ext cx="4572000" cy="4320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Brent Oil – Gold correlation (moderate-strong)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Events, Commodities &amp; Currency Markets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 · BONUS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 vs. Silver: A Near-Linear Relationship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755648"/>
            <a:ext cx="7095744" cy="4352544"/>
          </a:xfrm>
          <a:prstGeom prst="roundRect">
            <a:avLst>
              <a:gd name="adj" fmla="val 1261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5" name="Image 0" descr="/home/claude/proj/images/chart_B4_gold_silver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0"/>
            <a:ext cx="6949440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108192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average prices, 1960–2026, colored by year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680960" y="2103120"/>
            <a:ext cx="3931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2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0.918</a:t>
            </a:r>
            <a:endParaRPr lang="en-US" sz="20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90% of the annual variation in silver prices is explained by gold prices alone.</a:t>
            </a:r>
            <a:endParaRPr lang="en-US" sz="20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years (yellow points) cluster furthest from the origin — both metals are trading at structurally higher levels than any prior decade.</a:t>
            </a:r>
            <a:endParaRPr lang="en-US" sz="20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relationship holds across 65+ years and multiple monetary regimes, reinforcing that both are priced off the same core drivers: real interest rates, the dollar, and safe-haven demand.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Events, Commodities &amp; Currency Markets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 / B6 · BONUS ANALYTICS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Smoothing the Trend, Estimating What's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755648"/>
            <a:ext cx="5632704" cy="4306824"/>
          </a:xfrm>
          <a:prstGeom prst="roundRect">
            <a:avLst>
              <a:gd name="adj" fmla="val 1274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5" name="Image 0" descr="/home/claude/proj/images/chart_B5_gold_moving_a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0"/>
            <a:ext cx="5486400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0624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Gold: 12-month vs 60-month moving average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281928" y="1755648"/>
            <a:ext cx="5632704" cy="4306824"/>
          </a:xfrm>
          <a:prstGeom prst="roundRect">
            <a:avLst>
              <a:gd name="adj" fmla="val 1274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8" name="Image 1" descr="/home/claude/proj/images/chart_B6_brent_foreca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828800"/>
            <a:ext cx="5486400" cy="41605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55080" y="60624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Brent: simple linear trendline (estimate only, not a prediction)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Events, Commodities &amp; Currency Markets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2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Market Swings the Hardest?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709928"/>
            <a:ext cx="7187184" cy="4443984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5" name="Image 0" descr="/home/claude/proj/images/chart9_volatility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7040880" cy="4297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1539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% change, Brent Oil vs Gold vs Silver, 1960–2026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772400" y="1920240"/>
            <a:ext cx="38862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Silver: widest swings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moves regularly exceed ±40%, most visible around 1980 and the current 2026 run-up.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B2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Oil: frequent, moderate spikes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±20–40% single-month moves cluster tightly around every major event marker.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Gold: steadiest of the three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 exceeds ±20% monthly outside 1980 — consistent with its safe-haven role.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Events, Commodities &amp; Currency Markets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C9 · USD IN GLOBAL PAYMENTS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Dollar Still Leads by a Wide Margin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755648"/>
            <a:ext cx="7095744" cy="4306824"/>
          </a:xfrm>
          <a:prstGeom prst="roundRect">
            <a:avLst>
              <a:gd name="adj" fmla="val 1274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5" name="Image 0" descr="/home/claude/proj/images/chart6_currency_ran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0"/>
            <a:ext cx="6949440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062472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currencies by SWIFT payment share, Dec 2025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680960" y="2011680"/>
            <a:ext cx="3931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2600" b="1" dirty="0">
                <a:solidFill>
                  <a:srgbClr val="B2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50.49%</a:t>
            </a:r>
            <a:endParaRPr lang="en-US" sz="2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share of global SWIFT payments — more than double the euro.</a:t>
            </a:r>
            <a:endParaRPr lang="en-US" sz="2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2000" b="1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21.90%</a:t>
            </a:r>
            <a:endParaRPr lang="en-US" sz="2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EUR, a distant second.</a:t>
            </a:r>
            <a:endParaRPr lang="en-US" sz="2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seven currencies (GBP, CAD, JPY, CNY, HKD, AUD, SGD, CHF) combined don't match the euro's share alone — payments remain heavily concentrated.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Events, Commodities &amp; Currency Markets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 / C12 · CNY/RMB'S ROLE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Renminbi Is Growing — From a Small Base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755648"/>
            <a:ext cx="5541264" cy="4306824"/>
          </a:xfrm>
          <a:prstGeom prst="roundRect">
            <a:avLst>
              <a:gd name="adj" fmla="val 1274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5" name="Image 0" descr="/home/claude/proj/images/chart7_offshore_rm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0"/>
            <a:ext cx="5394960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06247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 RMB distribution by economy, Dec 2025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190488" y="1755648"/>
            <a:ext cx="5724144" cy="4306824"/>
          </a:xfrm>
          <a:prstGeom prst="roundRect">
            <a:avLst>
              <a:gd name="adj" fmla="val 1274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8" name="Image 1" descr="/home/claude/proj/images/chart10_usd_cny_tr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828800"/>
            <a:ext cx="5577840" cy="41605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63640" y="6062472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CNY/RMB vs USD payment share, Dec 2025–Mar 2026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Events, Commodities &amp; Currency Markets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2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C11 · SANCTIONS &amp; ALTERNATIVE SETTLEMENT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Sanctions Are Accelerating a Search for Alternatives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075688"/>
            <a:ext cx="128016" cy="128016"/>
          </a:xfrm>
          <a:prstGeom prst="ellipse">
            <a:avLst/>
          </a:prstGeom>
          <a:solidFill>
            <a:srgbClr val="B23A34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98424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SWIFT exclusion as a weapon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377440"/>
            <a:ext cx="4709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Cutting banks off from SWIFT (e.g. post-2022 Russia sanctions) freezes their ability to settle in USD/EUR, creating strong incentive to route around the system.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1874520"/>
            <a:ext cx="534924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73368" y="2075688"/>
            <a:ext cx="128016" cy="128016"/>
          </a:xfrm>
          <a:prstGeom prst="ellipse">
            <a:avLst/>
          </a:prstGeom>
          <a:solidFill>
            <a:srgbClr val="B23A34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198424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BRICS Pay &amp; bilateral settlement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29400" y="2377440"/>
            <a:ext cx="4709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BRICS nations are building payment rails and local-currency swap lines to settle trade without touching the dollar system.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534924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4224528"/>
            <a:ext cx="128016" cy="128016"/>
          </a:xfrm>
          <a:prstGeom prst="ellipse">
            <a:avLst/>
          </a:prstGeom>
          <a:solidFill>
            <a:srgbClr val="B23A34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13308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CNY as the leading alternative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4526280"/>
            <a:ext cx="4709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China's push for RMB internationalization — offshore clearing hubs, trade-finance invoicing — is the most advanced substitute, though still a small share of total flows.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4023360"/>
            <a:ext cx="534924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73368" y="4224528"/>
            <a:ext cx="128016" cy="128016"/>
          </a:xfrm>
          <a:prstGeom prst="ellipse">
            <a:avLst/>
          </a:prstGeom>
          <a:solidFill>
            <a:srgbClr val="B23A34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413308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Structural limits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29400" y="4526280"/>
            <a:ext cx="4709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controls, thin RMB bond markets and limited convertibility mean no alternative currently offers USD's depth, liquidity or trust.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Events, Commodities &amp; Currency Markets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4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D13–D16 · RISK &amp; RECOMMENDATIONS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Sensitivity, Exposure &amp; What To Do About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202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3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D13 — Most Event-Sensitive Market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Brent Crude reacts fastest and hardest to geopolitical shocks — every marked event on the timeline produced an immediate, visible price move.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39496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9202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3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D14 — Oil-Exposed Company Risk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46520" y="228600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Input-cost volatility can swing ±30-50% within a single year (2020 vs 2022); hedging programs and flexible pricing contracts materially reduce earnings risk.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539496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40690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D15 — USD / Gold / CNY Asset Holder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44348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remains the deepest, most liquid store of value; gold offers uncorrelated crisis protection; CNY exposure carries upside from internationalization but limited liquidity today.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3931920"/>
            <a:ext cx="5394960" cy="1965960"/>
          </a:xfrm>
          <a:prstGeom prst="roundRect">
            <a:avLst>
              <a:gd name="adj" fmla="val 3256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40690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D16 — Three Recommendations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44348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Hedge oil exposure with futures/options ahead of known geopolitical risk windows.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Hold 5–10% gold as portfolio insurance, not a return driver.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Monitor CNY internationalization as an early signal, but don't over-rotate yet.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Events, Commodities &amp; Currency Markets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4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Bottom 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02996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B23A34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0299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975104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Events move oil first and hardest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325880" y="2450592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Brent reacts fastest to geopolitical shocks; 1973 set the structural floor, 2022 delivered the sharpest recent spike.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34924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73368" y="202996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9A24B"/>
          </a:solidFill>
          <a:ln/>
        </p:spPr>
      </p:sp>
      <p:sp>
        <p:nvSpPr>
          <p:cNvPr id="11" name="Text 9"/>
          <p:cNvSpPr/>
          <p:nvPr/>
        </p:nvSpPr>
        <p:spPr>
          <a:xfrm>
            <a:off x="6373368" y="20299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49440" y="1975104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 and silver confirm each other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949440" y="2450592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0.958 correlation and R²=0.918 — gold anchors the safe-haven trade, silver amplifies it in both directions.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534924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8130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5B7A9D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813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25880" y="3758184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dollar's dominance is still intact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325880" y="4233672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holds 50.49% of global payments; CNY is rising but remains a single-digit share story for now.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3611880"/>
            <a:ext cx="534924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73368" y="38130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42B4F"/>
          </a:solidFill>
          <a:ln/>
        </p:spPr>
      </p:sp>
      <p:sp>
        <p:nvSpPr>
          <p:cNvPr id="21" name="Text 19"/>
          <p:cNvSpPr/>
          <p:nvPr/>
        </p:nvSpPr>
        <p:spPr>
          <a:xfrm>
            <a:off x="6373368" y="3813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49440" y="3758184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Diversification beats prediction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949440" y="4233672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carry wide uncertainty bands — hedging oil exposure and holding gold as insurance manage risk better than timing calls.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440680"/>
            <a:ext cx="10424160" cy="777240"/>
          </a:xfrm>
          <a:prstGeom prst="roundRect">
            <a:avLst>
              <a:gd name="adj" fmla="val 8235"/>
            </a:avLst>
          </a:prstGeom>
          <a:solidFill>
            <a:srgbClr val="0B1F3A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44068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six decades and three currencies of stress, the same pattern holds: oil prices geopolitical risk, gold and silver price monetary trust, and the dollar still prices everything else.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Events, Commodities &amp; Currency Markets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46888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777240" y="3611880"/>
            <a:ext cx="2743200" cy="0"/>
          </a:xfrm>
          <a:prstGeom prst="line">
            <a:avLst/>
          </a:prstGeom>
          <a:noFill/>
          <a:ln w="25400">
            <a:solidFill>
              <a:srgbClr val="C9A2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794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analysis: Market_Research_Report.docx  |  Data: Commodity_Analysis.xlsx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1905</Words>
  <Application>Microsoft Office PowerPoint</Application>
  <PresentationFormat>Widescreen</PresentationFormat>
  <Paragraphs>232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Isha Soni</cp:lastModifiedBy>
  <cp:revision>2</cp:revision>
  <dcterms:created xsi:type="dcterms:W3CDTF">2026-07-14T11:08:23Z</dcterms:created>
  <dcterms:modified xsi:type="dcterms:W3CDTF">2026-07-14T12:52:23Z</dcterms:modified>
</cp:coreProperties>
</file>